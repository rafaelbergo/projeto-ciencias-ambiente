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As-Is (Estático)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Tempo de Viagem (s)</c:v>
                </c:pt>
                <c:pt idx="1">
                  <c:v>Tempo em Fila (s)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754.3</c:v>
                </c:pt>
                <c:pt idx="1">
                  <c:v>361.5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To-Be (Atuado)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Tempo de Viagem (s)</c:v>
                </c:pt>
                <c:pt idx="1">
                  <c:v>Tempo em Fila (s)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455.9</c:v>
                </c:pt>
                <c:pt idx="1">
                  <c:v>67.2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As-Is (Estático)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Pico Manhã (9000s)</c:v>
                </c:pt>
                <c:pt idx="1">
                  <c:v>Pico Tarde (7200s)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35684.0</c:v>
                </c:pt>
                <c:pt idx="1">
                  <c:v>39162.0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To-Be (Atuado)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Pico Manhã (9000s)</c:v>
                </c:pt>
                <c:pt idx="1">
                  <c:v>Pico Tarde (7200s)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25834.0</c:v>
                </c:pt>
                <c:pt idx="1">
                  <c:v>30321.0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D6A4F"/>
                </a:solidFill>
                <a:latin typeface="Arial"/>
              </a:defRPr>
            </a:pPr>
            <a:r>
              <a:t>CIÊNCIAS DO AMBIENTE - UTFPR</a:t>
            </a:r>
          </a:p>
          <a:p>
            <a:pPr>
              <a:defRPr sz="4400" b="1">
                <a:solidFill>
                  <a:srgbClr val="1B4332"/>
                </a:solidFill>
                <a:latin typeface="Trebuchet MS"/>
              </a:defRPr>
            </a:pPr>
            <a:r>
              <a:t>Mobilidade Urbana e Sustentabilidade</a:t>
            </a:r>
            <a:br/>
            <a:r>
              <a:t>no Centro de Curitiba</a:t>
            </a:r>
          </a:p>
          <a:p>
            <a:pPr>
              <a:defRPr sz="1800">
                <a:solidFill>
                  <a:srgbClr val="212529"/>
                </a:solidFill>
                <a:latin typeface="Arial"/>
              </a:defRPr>
            </a:pPr>
            <a:r>
              <a:t>Estrutura do Desenvolvimento e Lógica de Engenharia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300">
                <a:solidFill>
                  <a:srgbClr val="212529"/>
                </a:solidFill>
              </a:defRPr>
            </a:pPr>
            <a:r>
              <a:t>Equipe Multidisciplinar de Engenharia:</a:t>
            </a:r>
          </a:p>
          <a:p>
            <a:pPr>
              <a:defRPr sz="1250" b="1">
                <a:solidFill>
                  <a:srgbClr val="2D6A4F"/>
                </a:solidFill>
              </a:defRPr>
            </a:pPr>
            <a:r>
              <a:t>Giovane Limas Salvi (RA: 2355841) | Rafael Bergo (RA: 2387190) | Gabriel Mororó (RA: 2306298)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Engenharias de Computação, Elétrica (Automação), e Mecânica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FLUXO GERAL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Arquitetura e Integração das Engenharias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Engenharia de Sistemas e Fluxo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Abordagem sistêmica e realimentada da mobilidade central.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Integração de dados lógicos com hardware e eficiência térmica.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Fluxo dinâmico de tráfego físico gerando estatísticas de filas.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Algoritmos corretivos reprogramam semáforos no CCO URBS.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Otimização de torque nos motores reduz CO₂ e poluição acústica.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Validação dos resultados através de simulação computacional.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Divisão de Responsabilidades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7200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defRPr b="1" sz="1250">
                <a:solidFill>
                  <a:srgbClr val="1B4332"/>
                </a:solidFill>
              </a:defRPr>
            </a:pPr>
            <a:r>
              <a:t>• Computação (Giovane Salvi):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  - Modelagem da malha viária (.osm) e geração probabilística da frota.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  - Desenvolvimento de algoritmos XML de controle atuado (TLS).</a:t>
            </a:r>
          </a:p>
          <a:p>
            <a:pPr>
              <a:spcBef>
                <a:spcPts val="800"/>
              </a:spcBef>
              <a:defRPr b="1" sz="1250">
                <a:solidFill>
                  <a:srgbClr val="1B4332"/>
                </a:solidFill>
              </a:defRPr>
            </a:pPr>
            <a:r>
              <a:t>• Elétrica &amp; Automação (Rafael Bergo):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  - Projeto de sensoriamento IP virtual e malha de realimentação.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  - Projeto físico-matemático de Onda Verde (Offsets do corredor).</a:t>
            </a:r>
          </a:p>
          <a:p>
            <a:pPr>
              <a:spcBef>
                <a:spcPts val="800"/>
              </a:spcBef>
              <a:defRPr b="1" sz="1250">
                <a:solidFill>
                  <a:srgbClr val="1B4332"/>
                </a:solidFill>
              </a:defRPr>
            </a:pPr>
            <a:r>
              <a:t>• Engenharia Mecânica (Gabriel Mororó):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  - Dinâmica térmica de aceleração (torque) e curvas HBEFA3.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  - Script Python para parser de logs XML e atenuação acústica.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MODELAGEM E ALGORITMOS DE CONTROLE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Computação (Giovane Limas Salvi)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Pipeline de Dados e Distribuição de Frota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Rede compilada via netconvert com '--junctions.join' para simplificar nós redundantes.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Script Python automatizando o mapeamento probabilístico da frota central: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356616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8288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Veículo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Proporção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Classe no SUMO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Carros comuns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60,0%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PC_G_EU4 (Gasolina)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Motocicletas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16,0%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motorcycle (Gasolina)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SUVs / Utilitários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13,0%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passenger (flex)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Vans de Entrega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5,0%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delivery (diesel)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Caminhões / Ônibus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6,0%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HDV_D_EU4 (diesel)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Lógica de Controle Atuado (XML)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57200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Configuração de semáforos adaptativos (tipo 'actuated' no XML).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Tempos de fases determinados pela presença real de veículos.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Parâmetros de extensão de tempo programados na rede: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  - maxGap = 3.0s: limite temporal de espaçamento entre veículos.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  - detectorGap = 2.0s: tempo de extensão de verde por veículo.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  - passingTime = 2.0s: tempo seguro de travessia do detector.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Execução de roteamento livre de erros viários via duarouter.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SENSORES, CONTROLE E SINCRONISMO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Elétrica e Automação (Rafael Bergo)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Arquitetura Física de Sensoriamento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Laços indutivos virtuais programados na via de tráfego.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Posicionamento físico dimensionado a 40 metros da retenção.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Recuo otimizado para conter fila de até 7 automóveis médios.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Dimensionamento: 7 veículos x 5,5m espaçamento ≈ 38,5m.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Reaproveitamento de câmeras IP existentes da URBS.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Regiões de Interesse (ROI) via software eliminam quebra de asfalto.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Controle em Malha Fechada e Onda Verde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Diagrama de blocos de realimentação ativa (Malha Fechada).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Sincronismo calculado de Onda Verde (Offset = d / v) para velocidade de cruzeiro de 40 km/h (11,11 m/s):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356616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Corredor Floriano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Distância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Offset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Interseção 1 (Referência)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Interseção 2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222 m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 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Interseção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444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Interseção 4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666 m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60 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TERMODINÂMICA DE COMBUSTÃO E DADOS AMBIENTAIS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Mecânica (Gabriel Mororó)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Eficiência Térmica e Equivalência HBEFA3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Arranques da inércia exigem picos de torque e misturas ricas.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Integração estequiométrica de curvas HBEFA3 calibradas no SUMO: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356616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46304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Classe do Veículo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Curva HBEFA3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CO₂ Idle (Médio)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Leves (Gasolina/Flex)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PC_G_EU4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2,50 g/min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Motos (Gasolina)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motorcycle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1,20 g/min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Utilitários Médios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LCV_flex_EU4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3,20 g/min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Pesados (Diesel)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HDV_D_EU4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9,50 g/min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Parser de Logs XML e Modelagem Acústica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57200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Desenvolvimento de script Python para ler outputs da simulação.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Parsing de tripinfo-output.xml e summary.xml gerados na execução.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Consolidação de dados de tempo de fila, consumo e emissões de CO₂.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• Análise de atenuação acústica urbana baseada nos ciclos de freios: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  - Redução calculada de 3 a 5 dB(A) nos eixos arteriais críticos.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  - Atenua o freia-e-arranca ruidoso de ônibus diesel pesados.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  - Adequação aos limites saudáveis da norma ABNT NBR 10151.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PROJETO CIÊNCIAS DO 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Resultados Práticos: Simulação Completa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5608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255"/>
                <a:gridCol w="1554480"/>
                <a:gridCol w="1554480"/>
                <a:gridCol w="1554480"/>
                <a:gridCol w="1554480"/>
                <a:gridCol w="1581912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Métrica de Desempenho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Manhã As-Is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Manhã To-Be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Tarde As-Is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Tarde To-Be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Impacto Máx.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Veículos Concluídos (Escoamento)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15.913 veíc.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17.118 veíc.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16.362 veíc.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19.191 veíc.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6A4F"/>
                          </a:solidFill>
                          <a:latin typeface="Arial"/>
                        </a:defRPr>
                      </a:pPr>
                      <a:r>
                        <a:t>+17.29% (Vazão)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Tempo Médio de Viagem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703,6 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436,4 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754,3 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455,9 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6A4F"/>
                          </a:solidFill>
                          <a:latin typeface="Arial"/>
                        </a:defRPr>
                      </a:pPr>
                      <a:r>
                        <a:t>-39.56% (Viagem)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Tempo Médio de Espera (Filas)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314,7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53,1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361,5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67,2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6A4F"/>
                          </a:solidFill>
                          <a:latin typeface="Arial"/>
                        </a:defRPr>
                      </a:pPr>
                      <a:r>
                        <a:t>-83.11% (Espera)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Consumo de Combustível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11.343.957 L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8.208.770 L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12.448.560 L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9.633.984 L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6A4F"/>
                          </a:solidFill>
                          <a:latin typeface="Arial"/>
                        </a:defRPr>
                      </a:pPr>
                      <a:r>
                        <a:t>-27.64% (Consumo)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Emissões de CO₂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35.684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25.834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39.162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30.321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6A4F"/>
                          </a:solidFill>
                          <a:latin typeface="Arial"/>
                        </a:defRPr>
                      </a:pPr>
                      <a:r>
                        <a:t>-27.60% (CO₂)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94960"/>
            <a:ext cx="10728655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B4332"/>
                </a:solidFill>
                <a:latin typeface="Arial"/>
              </a:defRPr>
            </a:pPr>
            <a:r>
              <a:t>• Lógica Adaptativa no CCO: O tempo de fila caiu de 6 minutos para apenas 1 minuto (redução de mais de 81% na tarde).</a:t>
            </a:r>
          </a:p>
          <a:p>
            <a:pPr>
              <a:spcAft>
                <a:spcPts val="400"/>
              </a:spcAft>
              <a:defRPr sz="1200">
                <a:solidFill>
                  <a:srgbClr val="1B4332"/>
                </a:solidFill>
                <a:latin typeface="Arial"/>
              </a:defRPr>
            </a:pPr>
            <a:r>
              <a:t>• Eficiência de Consumo: Redução de 27% nas emissões globais da rede, salvando 18,69 toneladas de CO₂ por 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COMPARATIVO VISUAL AS-IS VS TO-BE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Análise Gráfica de Tráfego e Emissões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Melhoria nos Tempos de Tráfego (Pico Tarde)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377440"/>
          <a:ext cx="45720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Redução de Emissões de CO₂ (kg)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92240" y="2377440"/>
          <a:ext cx="45720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PROJETO CIÊNCIAS DO 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Eficiência Ecológica e Prova Matemática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Cálculo da Emissão Evitada em Marcha Lenta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b="1" sz="1800">
                <a:solidFill>
                  <a:srgbClr val="2D6A4F"/>
                </a:solidFill>
              </a:defRPr>
            </a:pPr>
            <a:r>
              <a:t>CO₂ Evitado = N × Δt × Fator_idle</a:t>
            </a:r>
          </a:p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Mapeamento de parâmetros dinâmicos da tarde para alimentar a equação de queima estequiométrica: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356616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46888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Parâmetro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 Física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 Aplicado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Veículos escoados (tarde)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19.191 veíc.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Δt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Espera ociosa poupada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4,905 min / veíc.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Fator_idle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Emissão média em marcha lenta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3,12 g/min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CO₂ Salvo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Emissão evitada direta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293,7 kg CO₂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Impacto Ecológico Central Consolidado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429768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600"/>
              </a:spcBef>
              <a:defRPr b="1" sz="1200">
                <a:solidFill>
                  <a:srgbClr val="1B4332"/>
                </a:solidFill>
              </a:defRPr>
            </a:pPr>
            <a:r>
              <a:t>• Economia Atmosférica Diária de CO₂:</a:t>
            </a:r>
          </a:p>
          <a:p>
            <a:pPr>
              <a:spcAft>
                <a:spcPts val="300"/>
              </a:spcAft>
              <a:defRPr sz="1150">
                <a:solidFill>
                  <a:srgbClr val="212529"/>
                </a:solidFill>
              </a:defRPr>
            </a:pPr>
            <a:r>
              <a:t>  - Redução diária nos picos: 18,69 toneladas de CO₂.</a:t>
            </a:r>
          </a:p>
          <a:p>
            <a:pPr>
              <a:spcAft>
                <a:spcPts val="300"/>
              </a:spcAft>
              <a:defRPr sz="1150">
                <a:solidFill>
                  <a:srgbClr val="212529"/>
                </a:solidFill>
              </a:defRPr>
            </a:pPr>
            <a:r>
              <a:t>  - Redução acumulada por ano letivo: mais de 4.800 toneladas.</a:t>
            </a:r>
          </a:p>
          <a:p>
            <a:pPr>
              <a:spcAft>
                <a:spcPts val="300"/>
              </a:spcAft>
              <a:defRPr sz="1150">
                <a:solidFill>
                  <a:srgbClr val="212529"/>
                </a:solidFill>
              </a:defRPr>
            </a:pPr>
            <a:r>
              <a:t>  - Equivalente ecológico de plantar mais de 34.000 árvores.</a:t>
            </a:r>
          </a:p>
          <a:p>
            <a:pPr>
              <a:spcBef>
                <a:spcPts val="600"/>
              </a:spcBef>
              <a:defRPr b="1" sz="1200">
                <a:solidFill>
                  <a:srgbClr val="1B4332"/>
                </a:solidFill>
              </a:defRPr>
            </a:pPr>
            <a:r>
              <a:t>• Redução e Melhoria da Pressão Acústica:</a:t>
            </a:r>
          </a:p>
          <a:p>
            <a:pPr>
              <a:spcAft>
                <a:spcPts val="300"/>
              </a:spcAft>
              <a:defRPr sz="1150">
                <a:solidFill>
                  <a:srgbClr val="212529"/>
                </a:solidFill>
              </a:defRPr>
            </a:pPr>
            <a:r>
              <a:t>  - Queda de 3 a 5 dB(A) medida nos eixos de maior tráfego.</a:t>
            </a:r>
          </a:p>
          <a:p>
            <a:pPr>
              <a:spcAft>
                <a:spcPts val="300"/>
              </a:spcAft>
              <a:defRPr sz="1150">
                <a:solidFill>
                  <a:srgbClr val="212529"/>
                </a:solidFill>
              </a:defRPr>
            </a:pPr>
            <a:r>
              <a:t>  - Eliminação de picos de ruído mecânico de veículos a diesel.</a:t>
            </a:r>
          </a:p>
          <a:p>
            <a:pPr>
              <a:spcAft>
                <a:spcPts val="300"/>
              </a:spcAft>
              <a:defRPr sz="1150">
                <a:solidFill>
                  <a:srgbClr val="212529"/>
                </a:solidFill>
              </a:defRPr>
            </a:pPr>
            <a:r>
              <a:t>  - Níveis acústicos adequados aos padrões da NBR 10151.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VIABILIDADE FÍSICA E COMUNICACIONAL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Integração Operacional: CCO URBS &amp; Firmware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Arquitetura Física da Solução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Fibra óptica ligando câmeras e semáforos ao CCO URBS.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Transmissão de streams de vídeo centralizada em tempo real.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Servidores centrais de análise de imagens geram laços virtuais.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Instruções de controle dinâmicas são enviadas aos cruzamentos.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• Aproveitamento de infraestrutura evita escavações de pavimentos.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Lógica do Firmware e Protocolo de Controle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12529"/>
                </a:solidFill>
              </a:defRPr>
            </a:pPr>
            <a:r>
              <a:t>• Comunicação local entre CCO e campo via NTCIP 1202 e sincronismo via NTP/GPS. Detalhes dos componentes: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356616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Componente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Protocolo / Tec.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Função Operacional</a:t>
                      </a:r>
                    </a:p>
                  </a:txBody>
                  <a:tcPr anchor="ctr">
                    <a:solidFill>
                      <a:srgbClr val="1B43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Câmeras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H.264 / ONVIF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Mapeamento ROI virtual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Servidor CCO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Python / OpenCV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Cálculo de fila local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Semáforos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NTCIP 1202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Força fase (Force Off)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Sincronismo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Servidores NTP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Estabilidade de offsets</a:t>
                      </a:r>
                    </a:p>
                  </a:txBody>
                  <a:tcPr anchor="ctr">
                    <a:solidFill>
                      <a:srgbClr val="F0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Arial"/>
              </a:defRPr>
            </a:pPr>
            <a:r>
              <a:t>SÍNTESE DAS ENGEMHARIAS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B4332"/>
                </a:solidFill>
                <a:latin typeface="Trebuchet MS"/>
              </a:defRPr>
            </a:pPr>
            <a:r>
              <a:t>Conclusões Técnicas e Integração Prática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B4332"/>
                </a:solidFill>
                <a:latin typeface="Trebuchet MS"/>
              </a:defRPr>
            </a:pPr>
            <a:r>
              <a:t>Validação da Abordagem Multidisciplinar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566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12529"/>
                </a:solidFill>
              </a:defRPr>
            </a:pPr>
            <a:r>
              <a:t>• Fim do isolamento entre engenharias no design de soluções ambientais.</a:t>
            </a:r>
          </a:p>
          <a:p>
            <a:pPr>
              <a:spcAft>
                <a:spcPts val="1000"/>
              </a:spcAft>
              <a:defRPr sz="1250">
                <a:solidFill>
                  <a:srgbClr val="212529"/>
                </a:solidFill>
              </a:defRPr>
            </a:pPr>
            <a:r>
              <a:t>• Algoritmos lógicos (Computação) conectados ao sincronismo físico (Elétrica) e validados termodinamicamente (Mecânica).</a:t>
            </a:r>
          </a:p>
          <a:p>
            <a:pPr>
              <a:spcAft>
                <a:spcPts val="1000"/>
              </a:spcAft>
              <a:defRPr sz="1250">
                <a:solidFill>
                  <a:srgbClr val="212529"/>
                </a:solidFill>
              </a:defRPr>
            </a:pPr>
            <a:r>
              <a:t>• Otimização semafórica por software como alternativa de alta viabilidade e baixíssimo custo.</a:t>
            </a:r>
          </a:p>
          <a:p>
            <a:pPr>
              <a:spcAft>
                <a:spcPts val="1000"/>
              </a:spcAft>
              <a:defRPr sz="1250">
                <a:solidFill>
                  <a:srgbClr val="212529"/>
                </a:solidFill>
              </a:defRPr>
            </a:pPr>
            <a:r>
              <a:t>• Redução líquida imediata de 18,69 toneladas de CO₂ diárias na malha central de Curitiba.</a:t>
            </a:r>
          </a:p>
          <a:p>
            <a:pPr>
              <a:spcAft>
                <a:spcPts val="1000"/>
              </a:spcAft>
              <a:defRPr sz="1250">
                <a:solidFill>
                  <a:srgbClr val="212529"/>
                </a:solidFill>
              </a:defRPr>
            </a:pPr>
            <a:r>
              <a:t>• A engenharia aplicada diretamente ao bem-estar e à saúde pública no ambiente urbano.</a:t>
            </a:r>
          </a:p>
          <a:p>
            <a:br/>
            <a:pPr algn="ctr">
              <a:defRPr i="1" b="1" sz="1400">
                <a:solidFill>
                  <a:srgbClr val="2D6A4F"/>
                </a:solidFill>
              </a:defRPr>
            </a:pPr>
            <a:r>
              <a:t>"A engenharia multidisciplinar transforma a infraestrutura de tráfego em uma barreira de proteção socioambient."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5400" b="1">
                <a:solidFill>
                  <a:srgbClr val="1B4332"/>
                </a:solidFill>
                <a:latin typeface="Trebuchet MS"/>
              </a:defRPr>
            </a:pPr>
            <a:r>
              <a:t>Obrigado!</a:t>
            </a:r>
          </a:p>
          <a:p>
            <a:pPr algn="ctr">
              <a:defRPr sz="2400">
                <a:solidFill>
                  <a:srgbClr val="2D6A4F"/>
                </a:solidFill>
                <a:latin typeface="Arial"/>
              </a:defRPr>
            </a:pPr>
            <a:r>
              <a:t>Perguntas &amp; Discussão</a:t>
            </a:r>
          </a:p>
          <a:p>
            <a:br/>
            <a:pPr algn="ctr">
              <a:defRPr sz="1400">
                <a:solidFill>
                  <a:srgbClr val="6C757D"/>
                </a:solidFill>
                <a:latin typeface="Arial"/>
              </a:defRPr>
            </a:pPr>
            <a:r>
              <a:t>Grupo de Consultoria Multidisciplinar UTFPR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